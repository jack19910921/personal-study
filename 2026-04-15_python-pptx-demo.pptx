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python-pptx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12000</c:v>
                </c:pt>
                <c:pt idx="1">
                  <c:v>13500</c:v>
                </c:pt>
                <c:pt idx="2">
                  <c:v>15200</c:v>
                </c:pt>
                <c:pt idx="3">
                  <c:v>17800</c:v>
                </c:pt>
                <c:pt idx="4">
                  <c:v>20500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docx-pptx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3000</c:v>
                </c:pt>
                <c:pt idx="1">
                  <c:v>4200</c:v>
                </c:pt>
                <c:pt idx="2">
                  <c:v>5800</c:v>
                </c:pt>
                <c:pt idx="3">
                  <c:v>7100</c:v>
                </c:pt>
                <c:pt idx="4">
                  <c:v>8900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>
                  <a:solidFill>
                    <a:srgbClr val="3333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python-pptx 功能演示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CCDDEE"/>
                </a:solidFill>
              </a:defRPr>
            </a:pPr>
            <a:r>
              <a:t>基于 python-pptx 库的演示文稿制作示例</a:t>
            </a:r>
          </a:p>
          <a:p>
            <a:r>
              <a:t>2026 年 4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2200" b="1">
                <a:solidFill>
                  <a:srgbClr val="4A90D9"/>
                </a:solidFill>
              </a:rPr>
              <a:t>01  </a:t>
            </a:r>
            <a:r>
              <a:rPr sz="2200" b="1">
                <a:solidFill>
                  <a:srgbClr val="1F3A5F"/>
                </a:solidFill>
              </a:rPr>
              <a:t>核心特性概述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</a:rPr>
              <a:t>python-pptx 支持的主要功能</a:t>
            </a:r>
          </a:p>
          <a:p>
            <a:pPr>
              <a:spcBef>
                <a:spcPts val="2400"/>
              </a:spcBef>
            </a:pPr>
            <a:r>
              <a:rPr sz="2200" b="1">
                <a:solidFill>
                  <a:srgbClr val="4A90D9"/>
                </a:solidFill>
              </a:rPr>
              <a:t>02  </a:t>
            </a:r>
            <a:r>
              <a:rPr sz="2200" b="1">
                <a:solidFill>
                  <a:srgbClr val="1F3A5F"/>
                </a:solidFill>
              </a:rPr>
              <a:t>数据对比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</a:rPr>
              <a:t>表格展示与格式定制</a:t>
            </a:r>
          </a:p>
          <a:p>
            <a:pPr>
              <a:spcBef>
                <a:spcPts val="2400"/>
              </a:spcBef>
            </a:pPr>
            <a:r>
              <a:rPr sz="2200" b="1">
                <a:solidFill>
                  <a:srgbClr val="4A90D9"/>
                </a:solidFill>
              </a:rPr>
              <a:t>03  </a:t>
            </a:r>
            <a:r>
              <a:rPr sz="2200" b="1">
                <a:solidFill>
                  <a:srgbClr val="1F3A5F"/>
                </a:solidFill>
              </a:rPr>
              <a:t>趋势分析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</a:rPr>
              <a:t>图表生成与数据标签</a:t>
            </a:r>
          </a:p>
          <a:p>
            <a:pPr>
              <a:spcBef>
                <a:spcPts val="2400"/>
              </a:spcBef>
            </a:pPr>
            <a:r>
              <a:rPr sz="2200" b="1">
                <a:solidFill>
                  <a:srgbClr val="4A90D9"/>
                </a:solidFill>
              </a:rPr>
              <a:t>04  </a:t>
            </a:r>
            <a:r>
              <a:rPr sz="2200" b="1">
                <a:solidFill>
                  <a:srgbClr val="1F3A5F"/>
                </a:solidFill>
              </a:rPr>
              <a:t>总结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</a:rPr>
              <a:t>关键发现与下一步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核心特性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文本处理</a:t>
            </a:r>
          </a:p>
          <a:p>
            <a:pPr>
              <a:spcBef>
                <a:spcPts val="1400"/>
              </a:spcBef>
              <a:defRPr sz="1600" b="1">
                <a:solidFill>
                  <a:srgbClr val="1F3A5F"/>
                </a:solidFill>
              </a:defRPr>
            </a:pPr>
            <a:r>
              <a:t>文本处理</a:t>
            </a:r>
          </a:p>
          <a:p>
            <a:pPr lvl="1"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设置字体、大小、颜色、加粗</a:t>
            </a:r>
          </a:p>
          <a:p>
            <a:pPr lvl="1"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支持多级项目符号列表</a:t>
            </a:r>
          </a:p>
          <a:p>
            <a:pPr>
              <a:spcBef>
                <a:spcPts val="1400"/>
              </a:spcBef>
              <a:defRPr sz="1600" b="1">
                <a:solidFill>
                  <a:srgbClr val="1F3A5F"/>
                </a:solidFill>
              </a:defRPr>
            </a:pPr>
            <a:r>
              <a:t>图表生成</a:t>
            </a:r>
          </a:p>
          <a:p>
            <a:pPr lvl="1"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柱状图、折线图、饼图、散点图</a:t>
            </a:r>
          </a:p>
          <a:p>
            <a:pPr lvl="1"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数据标签与图例自定义</a:t>
            </a:r>
          </a:p>
          <a:p>
            <a:pPr>
              <a:spcBef>
                <a:spcPts val="1400"/>
              </a:spcBef>
              <a:defRPr sz="1600" b="1">
                <a:solidFill>
                  <a:srgbClr val="1F3A5F"/>
                </a:solidFill>
              </a:defRPr>
            </a:pPr>
            <a:r>
              <a:t>表格操作</a:t>
            </a:r>
          </a:p>
          <a:p>
            <a:pPr lvl="1"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动态创建行列、合并单元格</a:t>
            </a:r>
          </a:p>
          <a:p>
            <a:pPr lvl="1"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单元格背景色与边框定制</a:t>
            </a:r>
          </a:p>
          <a:p>
            <a:pPr>
              <a:spcBef>
                <a:spcPts val="1400"/>
              </a:spcBef>
              <a:defRPr sz="1600" b="1">
                <a:solidFill>
                  <a:srgbClr val="1F3A5F"/>
                </a:solidFill>
              </a:defRPr>
            </a:pPr>
            <a:r>
              <a:t>图片插入</a:t>
            </a:r>
          </a:p>
          <a:p>
            <a:pPr lvl="1"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任意位置与尺寸插入图片</a:t>
            </a:r>
          </a:p>
          <a:p>
            <a:pPr lvl="1"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自动适配幻灯片版式</a:t>
            </a:r>
          </a:p>
          <a:p>
            <a:pPr>
              <a:spcBef>
                <a:spcPts val="1400"/>
              </a:spcBef>
              <a:defRPr sz="1600" b="1">
                <a:solidFill>
                  <a:srgbClr val="1F3A5F"/>
                </a:solidFill>
              </a:defRPr>
            </a:pPr>
            <a:r>
              <a:t>跨平台</a:t>
            </a:r>
          </a:p>
          <a:p>
            <a:pPr lvl="1"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无需安装 PowerPoint</a:t>
            </a:r>
          </a:p>
          <a:p>
            <a:pPr lvl="1"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macOS / Linux 均可运行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库对比：PPT 自动化方案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645920"/>
                <a:gridCol w="2560320"/>
              </a:tblGrid>
              <a:tr h="685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特性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python-pptx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VBA / COM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Google Slides API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跨平台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❌ 仅 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需 PowerPoint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不需要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需要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不需要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离线工作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开源/免费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✅ MIT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有配额限制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动画支持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Star 增长趋势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6400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Bef>
                <a:spcPts val="2000"/>
              </a:spcBef>
              <a:defRPr sz="2400">
                <a:solidFill>
                  <a:srgbClr val="CCDDEE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